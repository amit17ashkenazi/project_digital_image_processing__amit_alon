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core-properties" Target="docProps/core.xml"/>
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</p:sldIdLst>
  <p:sldSz cx="12191695" cy="6858000" type="screen16x9"/>
  <p:notesSz cx="6858000" cy="9144000"/>
</p:presentation>
</file>

<file path=ppt/_rels/presentation.xml.rels><?xml version="1.0" encoding="UTF-8" standalone="yes"?>
<Relationships xmlns="http://schemas.openxmlformats.org/package/2006/relationships">
<Relationship Id="rIdMaster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
</Relationships>
</file>

<file path=ppt/slideLayouts/_rels/slideLayout1.xml.rels><?xml version="1.0" encoding="UTF-8" standalone="yes"?>
<Relationships xmlns="http://schemas.openxmlformats.org/package/2006/relationships">
<Relationship Id="rIdMaster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Theme" Type="http://schemas.openxmlformats.org/officeDocument/2006/relationships/theme" Target="../theme/theme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</p:sldMaster>
</file>

<file path=ppt/slides/_rels/slide1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2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3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.jpg"/>
<Relationship Id="rIdImg2" Type="http://schemas.openxmlformats.org/officeDocument/2006/relationships/image" Target="../media/image2.jpg"/>
<Relationship Id="rIdImg3" Type="http://schemas.openxmlformats.org/officeDocument/2006/relationships/image" Target="../media/image3.jpg"/>
<Relationship Id="rIdImg4" Type="http://schemas.openxmlformats.org/officeDocument/2006/relationships/image" Target="../media/image4.jpg"/>
<Relationship Id="rIdImg5" Type="http://schemas.openxmlformats.org/officeDocument/2006/relationships/image" Target="../media/image5.jpg"/>
<Relationship Id="rIdImg6" Type="http://schemas.openxmlformats.org/officeDocument/2006/relationships/image" Target="../media/image6.jpg"/>
</Relationships>
</file>

<file path=ppt/slides/_rels/slide4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5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7.png"/>
</Relationships>
</file>

<file path=ppt/slides/_rels/slide6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8.png"/>
</Relationships>
</file>

<file path=ppt/slides/_rels/slide7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9.png"/>
</Relationships>
</file>

<file path=ppt/slides/_rels/slide8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9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0.png"/>
<Relationship Id="rIdImg2" Type="http://schemas.openxmlformats.org/officeDocument/2006/relationships/image" Target="../media/image11.png"/>
<Relationship Id="rIdImg3" Type="http://schemas.openxmlformats.org/officeDocument/2006/relationships/image" Target="../media/image12.png"/>
</Relationships>
</file>

<file path=ppt/slides/_rels/slide10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3.png"/>
<Relationship Id="rIdImg2" Type="http://schemas.openxmlformats.org/officeDocument/2006/relationships/image" Target="../media/image14.png"/>
<Relationship Id="rIdImg3" Type="http://schemas.openxmlformats.org/officeDocument/2006/relationships/image" Target="../media/image15.png"/>
</Relationships>
</file>

<file path=ppt/slides/_rels/slide11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6.png"/>
<Relationship Id="rIdImg2" Type="http://schemas.openxmlformats.org/officeDocument/2006/relationships/image" Target="../media/image17.png"/>
<Relationship Id="rIdImg3" Type="http://schemas.openxmlformats.org/officeDocument/2006/relationships/image" Target="../media/image18.png"/>
</Relationships>
</file>

<file path=ppt/slides/_rels/slide12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<Relationship Id="rIdImg1" Type="http://schemas.openxmlformats.org/officeDocument/2006/relationships/image" Target="../media/image19.png"/>
</Relationships>
</file>

<file path=ppt/slides/_rels/slide13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_rels/slide14.xml.rels><?xml version="1.0" encoding="UTF-8" standalone="yes"?>
<Relationships xmlns="http://schemas.openxmlformats.org/package/2006/relationships">
<Relationship Id="rIdLayout" Type="http://schemas.openxmlformats.org/officeDocument/2006/relationships/slideLayout" Target="../slideLayouts/slideLayout1.xml"/>
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8229600" y="-1371600"/>
            <a:ext cx="5943600" cy="5943600"/>
          </a:xfrm>
          <a:prstGeom prst="ellipse">
            <a:avLst/>
          </a:prstGeom>
          <a:solidFill>
            <a:srgbClr val="F2A93B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F2A93B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4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b="1" i="0" spc="300" dirty="0">
                <a:solidFill>
                  <a:srgbClr val="F2A93B"/>
                </a:solidFill>
                <a:latin typeface="Calibri"/>
              </a:rPr>
              <a:t>ROBUST AUTONOMOUS DRIVING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000" b="1" i="0" dirty="0">
                <a:solidFill>
                  <a:srgbClr val="FFFFFF"/>
                </a:solidFill>
                <a:latin typeface="Cambria"/>
              </a:rPr>
              <a:t>Evaluating Vision Robustness Under</a:t>
            </a:r>
          </a:p>
          <a:p>
            <a:pPr algn="l">
              <a:lnSpc>
                <a:spcPct val="110000"/>
              </a:lnSpc>
            </a:pPr>
            <a:r>
              <a:rPr lang="en-US" sz="4000" b="1" i="0" dirty="0">
                <a:solidFill>
                  <a:srgbClr val="FFFFFF"/>
                </a:solidFill>
                <a:latin typeface="Cambria"/>
              </a:rPr>
              <a:t>Real-World Image Distortions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731520" y="40233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600" b="0" i="1" dirty="0">
                <a:solidFill>
                  <a:srgbClr val="E9ECEF"/>
                </a:solidFill>
                <a:latin typeface="Calibri"/>
              </a:rPr>
              <a:t>Lane Detection  •  Feature Matching  •  Vehicle Detection</a:t>
            </a:r>
          </a:p>
        </p:txBody>
      </p:sp>
      <p:sp>
        <p:nvSpPr>
          <p:cNvPr id="7" name="Shape7"/>
          <p:cNvSpPr/>
          <p:nvPr/>
        </p:nvSpPr>
        <p:spPr>
          <a:xfrm>
            <a:off x="731520" y="5074920"/>
            <a:ext cx="6035040" cy="1051560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960120" y="5074920"/>
            <a:ext cx="2743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Amit Ashkenazi</a:t>
            </a:r>
          </a:p>
          <a:p>
            <a:r>
              <a:rPr lang="en-US" sz="1200" b="0" i="0" dirty="0">
                <a:solidFill>
                  <a:srgbClr val="9AA0AC"/>
                </a:solidFill>
                <a:latin typeface="Calibri"/>
              </a:rPr>
              <a:t>amit17ashkenazi@gmail.com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3794760" y="5074920"/>
            <a:ext cx="2743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Alon Kenan</a:t>
            </a:r>
          </a:p>
          <a:p>
            <a:r>
              <a:rPr lang="en-US" sz="1200" b="0" i="0" dirty="0">
                <a:solidFill>
                  <a:srgbClr val="9AA0AC"/>
                </a:solidFill>
                <a:latin typeface="Calibri"/>
              </a:rPr>
              <a:t>alon.kenan.ee@gmail.com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Why Robustness Matters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600200"/>
            <a:ext cx="64922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600" b="0" i="0" dirty="0">
                <a:solidFill>
                  <a:srgbClr val="20232A"/>
                </a:solidFill>
                <a:latin typeface="Calibri"/>
              </a:rPr>
              <a:t>Classical computer-vision and deep-learning methods used in autonomous driving are normally evaluated on </a:t>
            </a:r>
            <a:r>
              <a:rPr lang="en-US" sz="1600" b="1" i="0" dirty="0">
                <a:solidFill>
                  <a:srgbClr val="C97F1E"/>
                </a:solidFill>
                <a:latin typeface="Calibri"/>
              </a:rPr>
              <a:t>clean</a:t>
            </a:r>
            <a:r>
              <a:rPr lang="en-US" sz="1600" b="0" i="0" dirty="0">
                <a:solidFill>
                  <a:srgbClr val="20232A"/>
                </a:solidFill>
                <a:latin typeface="Calibri"/>
              </a:rPr>
              <a:t> images. On the road, cameras see </a:t>
            </a:r>
            <a:r>
              <a:rPr lang="en-US" sz="1600" b="1" i="0" dirty="0">
                <a:solidFill>
                  <a:srgbClr val="C97F1E"/>
                </a:solidFill>
                <a:latin typeface="Calibri"/>
              </a:rPr>
              <a:t>low light, motion blur, and rain</a:t>
            </a:r>
            <a:r>
              <a:rPr lang="en-US" sz="1600" b="0" i="0" dirty="0">
                <a:solidFill>
                  <a:srgbClr val="20232A"/>
                </a:solidFill>
                <a:latin typeface="Calibri"/>
              </a:rPr>
              <a:t> every day.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548640" y="278892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350" b="0" i="0" dirty="0">
                <a:solidFill>
                  <a:srgbClr val="6B7280"/>
                </a:solidFill>
                <a:latin typeface="Calibri"/>
              </a:rPr>
              <a:t>This project measures how much performance each method loses as distortion severity increases — and how much of it can be recovered.</a:t>
            </a:r>
          </a:p>
        </p:txBody>
      </p:sp>
      <p:sp>
        <p:nvSpPr>
          <p:cNvPr id="6" name="Ellipse6"/>
          <p:cNvSpPr/>
          <p:nvPr/>
        </p:nvSpPr>
        <p:spPr>
          <a:xfrm>
            <a:off x="7406640" y="160020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7"/>
          <p:cNvSpPr txBox="1"/>
          <p:nvPr/>
        </p:nvSpPr>
        <p:spPr>
          <a:xfrm>
            <a:off x="740664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i="0" dirty="0">
                <a:solidFill>
                  <a:srgbClr val="1B1D23"/>
                </a:solidFill>
                <a:latin typeface="Cambria"/>
              </a:rPr>
              <a:t>1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8046720" y="1554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Measure degradation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8046720" y="1892808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Sweep 3 realistic distortions across 9 severity levels, scored vs. achieved SNR.</a:t>
            </a:r>
          </a:p>
        </p:txBody>
      </p:sp>
      <p:sp>
        <p:nvSpPr>
          <p:cNvPr id="10" name="Ellipse10"/>
          <p:cNvSpPr/>
          <p:nvPr/>
        </p:nvSpPr>
        <p:spPr>
          <a:xfrm>
            <a:off x="7406640" y="283464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740664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i="0" dirty="0">
                <a:solidFill>
                  <a:srgbClr val="1B1D23"/>
                </a:solidFill>
                <a:latin typeface="Cambria"/>
              </a:rPr>
              <a:t>2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8046720" y="27889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Enhancement recovery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8046720" y="3127248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Restore the image first (denoise / deblur / de-rain), then re-run the same method.</a:t>
            </a:r>
          </a:p>
        </p:txBody>
      </p:sp>
      <p:sp>
        <p:nvSpPr>
          <p:cNvPr id="14" name="Ellipse14"/>
          <p:cNvSpPr/>
          <p:nvPr/>
        </p:nvSpPr>
        <p:spPr>
          <a:xfrm>
            <a:off x="7406640" y="406908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15"/>
          <p:cNvSpPr txBox="1"/>
          <p:nvPr/>
        </p:nvSpPr>
        <p:spPr>
          <a:xfrm>
            <a:off x="7406640" y="4069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i="0" dirty="0">
                <a:solidFill>
                  <a:srgbClr val="1B1D23"/>
                </a:solidFill>
                <a:latin typeface="Cambria"/>
              </a:rPr>
              <a:t>3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8046720" y="4023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Fine-tuning recovery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8046720" y="4361688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Adapt the model itself to distorted inputs, using real ground truth.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THE DATASET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BDD100K — Real Driving Scenes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350" b="0" i="0" dirty="0">
                <a:solidFill>
                  <a:srgbClr val="6B7280"/>
                </a:solidFill>
                <a:latin typeface="Calibri"/>
              </a:rPr>
              <a:t>Berkeley DeepDrive: large-scale, diverse road-scene images/video with object, lane, and drivable-area annotations — the source for all three tasks.</a:t>
            </a:r>
          </a:p>
        </p:txBody>
      </p:sp>
      <p:sp>
        <p:nvSpPr>
          <p:cNvPr id="5" name="Shape5"/>
          <p:cNvSpPr/>
          <p:nvPr/>
        </p:nvSpPr>
        <p:spPr>
          <a:xfrm>
            <a:off x="612648" y="207568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6" name="Picture6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85946" y="2148840"/>
            <a:ext cx="2331429" cy="1311429"/>
          </a:xfrm>
          <a:prstGeom prst="rect">
            <a:avLst/>
          </a:prstGeom>
        </p:spPr>
      </p:pic>
      <p:sp>
        <p:nvSpPr>
          <p:cNvPr id="7" name="Shape7"/>
          <p:cNvSpPr/>
          <p:nvPr/>
        </p:nvSpPr>
        <p:spPr>
          <a:xfrm>
            <a:off x="3264408" y="207568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Picture8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3337706" y="2148840"/>
            <a:ext cx="2331429" cy="1311429"/>
          </a:xfrm>
          <a:prstGeom prst="rect">
            <a:avLst/>
          </a:prstGeom>
        </p:spPr>
      </p:pic>
      <p:sp>
        <p:nvSpPr>
          <p:cNvPr id="9" name="Shape9"/>
          <p:cNvSpPr/>
          <p:nvPr/>
        </p:nvSpPr>
        <p:spPr>
          <a:xfrm>
            <a:off x="5916168" y="207568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0" name="Picture10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5989466" y="2148840"/>
            <a:ext cx="2331429" cy="1311429"/>
          </a:xfrm>
          <a:prstGeom prst="rect">
            <a:avLst/>
          </a:prstGeom>
        </p:spPr>
      </p:pic>
      <p:sp>
        <p:nvSpPr>
          <p:cNvPr id="11" name="Text11"/>
          <p:cNvSpPr txBox="1"/>
          <p:nvPr/>
        </p:nvSpPr>
        <p:spPr>
          <a:xfrm>
            <a:off x="685800" y="3624861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b="0" i="1" dirty="0">
                <a:solidFill>
                  <a:srgbClr val="6B7280"/>
                </a:solidFill>
                <a:latin typeface="Calibri"/>
              </a:rPr>
              <a:t>Dataset 1 — 300 images → Task 1 (Lane Detection) &amp; Task 3 (Vehicle Detection)</a:t>
            </a:r>
          </a:p>
        </p:txBody>
      </p:sp>
      <p:sp>
        <p:nvSpPr>
          <p:cNvPr id="12" name="Shape12"/>
          <p:cNvSpPr/>
          <p:nvPr/>
        </p:nvSpPr>
        <p:spPr>
          <a:xfrm>
            <a:off x="612648" y="427024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3" name="Picture13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685946" y="4343400"/>
            <a:ext cx="2331429" cy="1311429"/>
          </a:xfrm>
          <a:prstGeom prst="rect">
            <a:avLst/>
          </a:prstGeom>
        </p:spPr>
      </p:pic>
      <p:sp>
        <p:nvSpPr>
          <p:cNvPr id="14" name="Shape14"/>
          <p:cNvSpPr/>
          <p:nvPr/>
        </p:nvSpPr>
        <p:spPr>
          <a:xfrm>
            <a:off x="3264408" y="427024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5" name="Picture15"/>
          <p:cNvPicPr>
            <a:picLocks noChangeAspect="1"/>
          </p:cNvPicPr>
          <p:nvPr/>
        </p:nvPicPr>
        <p:blipFill>
          <a:blip r:embed="rIdImg5"/>
          <a:stretch>
            <a:fillRect/>
          </a:stretch>
        </p:blipFill>
        <p:spPr>
          <a:xfrm>
            <a:off x="3337706" y="4343400"/>
            <a:ext cx="2331429" cy="1311429"/>
          </a:xfrm>
          <a:prstGeom prst="rect">
            <a:avLst/>
          </a:prstGeom>
        </p:spPr>
      </p:pic>
      <p:sp>
        <p:nvSpPr>
          <p:cNvPr id="16" name="Shape16"/>
          <p:cNvSpPr/>
          <p:nvPr/>
        </p:nvSpPr>
        <p:spPr>
          <a:xfrm>
            <a:off x="5916168" y="4270248"/>
            <a:ext cx="2478024" cy="145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7" name="Picture17"/>
          <p:cNvPicPr>
            <a:picLocks noChangeAspect="1"/>
          </p:cNvPicPr>
          <p:nvPr/>
        </p:nvPicPr>
        <p:blipFill>
          <a:blip r:embed="rIdImg6"/>
          <a:stretch>
            <a:fillRect/>
          </a:stretch>
        </p:blipFill>
        <p:spPr>
          <a:xfrm>
            <a:off x="5989466" y="4343400"/>
            <a:ext cx="2331429" cy="1311429"/>
          </a:xfrm>
          <a:prstGeom prst="rect">
            <a:avLst/>
          </a:prstGeom>
        </p:spPr>
      </p:pic>
      <p:sp>
        <p:nvSpPr>
          <p:cNvPr id="18" name="Text18"/>
          <p:cNvSpPr txBox="1"/>
          <p:nvPr/>
        </p:nvSpPr>
        <p:spPr>
          <a:xfrm>
            <a:off x="685800" y="5819421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50" b="0" i="1" dirty="0">
                <a:solidFill>
                  <a:srgbClr val="6B7280"/>
                </a:solidFill>
                <a:latin typeface="Calibri"/>
              </a:rPr>
              <a:t>Dataset 2 — 178 consecutive-frame pairs from one driving video → Task 2 (Feature Matching)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THREE TASKS, THREE LEVELS OF VISION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FFFFFF"/>
                </a:solidFill>
                <a:latin typeface="Cambria"/>
              </a:rPr>
              <a:t>One Pipeline, Three Perception Methods</a:t>
            </a:r>
          </a:p>
        </p:txBody>
      </p:sp>
      <p:sp>
        <p:nvSpPr>
          <p:cNvPr id="4" name="Shape4"/>
          <p:cNvSpPr/>
          <p:nvPr/>
        </p:nvSpPr>
        <p:spPr>
          <a:xfrm>
            <a:off x="640080" y="1965960"/>
            <a:ext cx="10881360" cy="1033272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914400" y="1965960"/>
            <a:ext cx="1371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600" b="1" i="0" dirty="0">
                <a:solidFill>
                  <a:srgbClr val="F2A93B"/>
                </a:solidFill>
                <a:latin typeface="Cambria"/>
              </a:rPr>
              <a:t>Task 1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2377440" y="1965960"/>
            <a:ext cx="32918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700" b="1" i="0" dirty="0">
                <a:solidFill>
                  <a:srgbClr val="FFFFFF"/>
                </a:solidFill>
                <a:latin typeface="Cambria"/>
              </a:rPr>
              <a:t>Lane Detection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5760720" y="1965960"/>
            <a:ext cx="3657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0" i="0" dirty="0">
                <a:solidFill>
                  <a:srgbClr val="E9ECEF"/>
                </a:solidFill>
                <a:latin typeface="Calibri"/>
              </a:rPr>
              <a:t>Canny + Hough Transform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418320" y="1965960"/>
            <a:ext cx="19202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i="1" dirty="0">
                <a:solidFill>
                  <a:srgbClr val="9AA0AC"/>
                </a:solidFill>
                <a:latin typeface="Calibri"/>
              </a:rPr>
              <a:t>Classical — Low Level</a:t>
            </a:r>
          </a:p>
        </p:txBody>
      </p:sp>
      <p:sp>
        <p:nvSpPr>
          <p:cNvPr id="9" name="Shape9"/>
          <p:cNvSpPr/>
          <p:nvPr/>
        </p:nvSpPr>
        <p:spPr>
          <a:xfrm>
            <a:off x="640080" y="3200400"/>
            <a:ext cx="10881360" cy="1033272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914400" y="3200400"/>
            <a:ext cx="1371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600" b="1" i="0" dirty="0">
                <a:solidFill>
                  <a:srgbClr val="F2A93B"/>
                </a:solidFill>
                <a:latin typeface="Cambria"/>
              </a:rPr>
              <a:t>Task 2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2377440" y="3200400"/>
            <a:ext cx="32918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700" b="1" i="0" dirty="0">
                <a:solidFill>
                  <a:srgbClr val="FFFFFF"/>
                </a:solidFill>
                <a:latin typeface="Cambria"/>
              </a:rPr>
              <a:t>Feature Matching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5760720" y="3200400"/>
            <a:ext cx="3657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0" i="0" dirty="0">
                <a:solidFill>
                  <a:srgbClr val="E9ECEF"/>
                </a:solidFill>
                <a:latin typeface="Calibri"/>
              </a:rPr>
              <a:t>ORB + BFMatcher + RANSAC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9418320" y="3200400"/>
            <a:ext cx="19202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i="1" dirty="0">
                <a:solidFill>
                  <a:srgbClr val="9AA0AC"/>
                </a:solidFill>
                <a:latin typeface="Calibri"/>
              </a:rPr>
              <a:t>Classical — High Level</a:t>
            </a:r>
          </a:p>
        </p:txBody>
      </p:sp>
      <p:sp>
        <p:nvSpPr>
          <p:cNvPr id="14" name="Shape14"/>
          <p:cNvSpPr/>
          <p:nvPr/>
        </p:nvSpPr>
        <p:spPr>
          <a:xfrm>
            <a:off x="640080" y="4434840"/>
            <a:ext cx="10881360" cy="1033272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15" name="Text15"/>
          <p:cNvSpPr txBox="1"/>
          <p:nvPr/>
        </p:nvSpPr>
        <p:spPr>
          <a:xfrm>
            <a:off x="914400" y="4434840"/>
            <a:ext cx="1371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600" b="1" i="0" dirty="0">
                <a:solidFill>
                  <a:srgbClr val="F2A93B"/>
                </a:solidFill>
                <a:latin typeface="Cambria"/>
              </a:rPr>
              <a:t>Task 3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377440" y="4434840"/>
            <a:ext cx="32918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700" b="1" i="0" dirty="0">
                <a:solidFill>
                  <a:srgbClr val="FFFFFF"/>
                </a:solidFill>
                <a:latin typeface="Cambria"/>
              </a:rPr>
              <a:t>Vehicle Detection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5760720" y="4434840"/>
            <a:ext cx="365760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300" b="0" i="0" dirty="0">
                <a:solidFill>
                  <a:srgbClr val="E9ECEF"/>
                </a:solidFill>
                <a:latin typeface="Calibri"/>
              </a:rPr>
              <a:t>YOLOv8n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9418320" y="4434840"/>
            <a:ext cx="1920240" cy="1033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00" b="0" i="1" dirty="0">
                <a:solidFill>
                  <a:srgbClr val="9AA0AC"/>
                </a:solidFill>
                <a:latin typeface="Calibri"/>
              </a:rPr>
              <a:t>Deep Learning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9AA0AC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9AA0A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TASK 1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Lane Detection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417320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300" b="0" i="0" dirty="0">
                <a:solidFill>
                  <a:srgbClr val="6B7280"/>
                </a:solidFill>
                <a:latin typeface="Calibri"/>
              </a:rPr>
              <a:t>Grayscale + blur → Canny edges → trapezoidal ROI mask → morphological closing → probabilistic Hough transform → slope filtering → outlier rejection → weighted regression per side.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3383280"/>
            <a:ext cx="5394960" cy="9601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777240" y="3383280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Identifies the ego-vehicle's lane boundaries — </a:t>
            </a:r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a core low-level building block for lane-keeping and path planning.</a:t>
            </a:r>
          </a:p>
        </p:txBody>
      </p:sp>
      <p:sp>
        <p:nvSpPr>
          <p:cNvPr id="7" name="Shape7"/>
          <p:cNvSpPr/>
          <p:nvPr/>
        </p:nvSpPr>
        <p:spPr>
          <a:xfrm>
            <a:off x="6419088" y="1389888"/>
            <a:ext cx="5266944" cy="302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Picture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492560" y="1463040"/>
            <a:ext cx="5120000" cy="2880000"/>
          </a:xfrm>
          <a:prstGeom prst="rect">
            <a:avLst/>
          </a:prstGeom>
        </p:spPr>
      </p:pic>
      <p:sp>
        <p:nvSpPr>
          <p:cNvPr id="9" name="Text9"/>
          <p:cNvSpPr txBox="1"/>
          <p:nvPr/>
        </p:nvSpPr>
        <p:spPr>
          <a:xfrm>
            <a:off x="6492240" y="4489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0" i="1" dirty="0">
                <a:solidFill>
                  <a:srgbClr val="6B7280"/>
                </a:solidFill>
                <a:latin typeface="Calibri"/>
              </a:rPr>
              <a:t>Clean-image result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TASK 2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Feature Matching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300" b="0" i="0" dirty="0">
                <a:solidFill>
                  <a:srgbClr val="6B7280"/>
                </a:solidFill>
                <a:latin typeface="Calibri"/>
              </a:rPr>
              <a:t>ORB keypoint detection → BFMatcher (Hamming distance) k-NN → Lowe's ratio test → RANSAC homography, keeping only geometrically consistent inlier matches.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2148840"/>
            <a:ext cx="1106424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Building block behind visual odometry and tracking — matched between </a:t>
            </a:r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two consecutive frames of the same driving sequence</a:t>
            </a: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, mimicking real frame-to-frame matching.</a:t>
            </a:r>
          </a:p>
        </p:txBody>
      </p:sp>
      <p:sp>
        <p:nvSpPr>
          <p:cNvPr id="7" name="Shape7"/>
          <p:cNvSpPr/>
          <p:nvPr/>
        </p:nvSpPr>
        <p:spPr>
          <a:xfrm>
            <a:off x="1359256" y="3172968"/>
            <a:ext cx="9473184" cy="276916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Picture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432990" y="3246120"/>
            <a:ext cx="9325714" cy="2622857"/>
          </a:xfrm>
          <a:prstGeom prst="rect">
            <a:avLst/>
          </a:prstGeom>
        </p:spPr>
      </p:pic>
      <p:sp>
        <p:nvSpPr>
          <p:cNvPr id="9" name="Text9"/>
          <p:cNvSpPr txBox="1"/>
          <p:nvPr/>
        </p:nvSpPr>
        <p:spPr>
          <a:xfrm>
            <a:off x="1432408" y="6015281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100" b="0" i="1" dirty="0">
                <a:solidFill>
                  <a:srgbClr val="6B7280"/>
                </a:solidFill>
                <a:latin typeface="Calibri"/>
              </a:rPr>
              <a:t>Clean-image match visualization — two consecutive frames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TASK 3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Vehicle Detection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41732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300" b="0" i="0" dirty="0">
                <a:solidFill>
                  <a:srgbClr val="6B7280"/>
                </a:solidFill>
                <a:latin typeface="Calibri"/>
              </a:rPr>
              <a:t>YOLOv8n (nano) — pretrained on COCO, later fine-tuned on distorted driving images. Locates and classifies car / truck / bus / motorcycle / bicycle.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2788920"/>
            <a:ext cx="5394960" cy="1463040"/>
          </a:xfrm>
          <a:prstGeom prst="roundRect">
            <a:avLst/>
          </a:prstGeom>
          <a:solidFill>
            <a:srgbClr val="1B1D2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822960" y="27889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50" b="1" i="0" dirty="0">
                <a:solidFill>
                  <a:srgbClr val="F2A93B"/>
                </a:solidFill>
                <a:latin typeface="Calibri"/>
              </a:rPr>
              <a:t>★  </a:t>
            </a:r>
            <a:r>
              <a:rPr lang="en-US" sz="1250" b="0" i="0" dirty="0">
                <a:solidFill>
                  <a:srgbClr val="E9ECEF"/>
                </a:solidFill>
                <a:latin typeface="Calibri"/>
              </a:rPr>
              <a:t>The only task with </a:t>
            </a:r>
            <a:r>
              <a:rPr lang="en-US" sz="1250" b="1" i="0" dirty="0">
                <a:solidFill>
                  <a:srgbClr val="F2A93B"/>
                </a:solidFill>
                <a:latin typeface="Calibri"/>
              </a:rPr>
              <a:t>real BDD100K ground truth</a:t>
            </a:r>
            <a:r>
              <a:rPr lang="en-US" sz="1250" b="0" i="0" dirty="0">
                <a:solidFill>
                  <a:srgbClr val="E9ECEF"/>
                </a:solidFill>
                <a:latin typeface="Calibri"/>
              </a:rPr>
              <a:t> — unlike Tasks 1 &amp; 2, which use pseudo-GT (clean-image output as reference).</a:t>
            </a:r>
          </a:p>
        </p:txBody>
      </p:sp>
      <p:sp>
        <p:nvSpPr>
          <p:cNvPr id="7" name="Shape7"/>
          <p:cNvSpPr/>
          <p:nvPr/>
        </p:nvSpPr>
        <p:spPr>
          <a:xfrm>
            <a:off x="6419088" y="1389888"/>
            <a:ext cx="5266944" cy="302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Picture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492560" y="1463040"/>
            <a:ext cx="5120000" cy="2880000"/>
          </a:xfrm>
          <a:prstGeom prst="rect">
            <a:avLst/>
          </a:prstGeom>
        </p:spPr>
      </p:pic>
      <p:sp>
        <p:nvSpPr>
          <p:cNvPr id="9" name="Text9"/>
          <p:cNvSpPr txBox="1"/>
          <p:nvPr/>
        </p:nvSpPr>
        <p:spPr>
          <a:xfrm>
            <a:off x="6492240" y="4489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0" i="1" dirty="0">
                <a:solidFill>
                  <a:srgbClr val="6B7280"/>
                </a:solidFill>
                <a:latin typeface="Calibri"/>
              </a:rPr>
              <a:t>Clean-image detection result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EVALUATION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One Headline Metric per Task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Chosen for actually telling a robustness story — monotonic with severity, not flat or noisy.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1965960"/>
            <a:ext cx="3502152" cy="4160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804672" y="2148840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100" dirty="0">
                <a:solidFill>
                  <a:srgbClr val="C97F1E"/>
                </a:solidFill>
                <a:latin typeface="Calibri"/>
              </a:rPr>
              <a:t>Task 1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804672" y="2487168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i="0" dirty="0">
                <a:solidFill>
                  <a:srgbClr val="20232A"/>
                </a:solidFill>
                <a:latin typeface="Cambria"/>
              </a:rPr>
              <a:t>survival_rate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804672" y="3108960"/>
            <a:ext cx="3136392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Lane line neither lost nor displaced &gt;45px vs. clean-image reference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804672" y="4709160"/>
            <a:ext cx="313639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400" b="1" i="0" dirty="0">
                <a:solidFill>
                  <a:srgbClr val="1B1D23"/>
                </a:solidFill>
                <a:latin typeface="Cambria"/>
              </a:rPr>
              <a:t>1.00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04672" y="53949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0" i="1" dirty="0">
                <a:solidFill>
                  <a:srgbClr val="6B7280"/>
                </a:solidFill>
                <a:latin typeface="Calibri"/>
              </a:rPr>
              <a:t>clean baseline</a:t>
            </a:r>
          </a:p>
        </p:txBody>
      </p:sp>
      <p:sp>
        <p:nvSpPr>
          <p:cNvPr id="11" name="Shape11"/>
          <p:cNvSpPr/>
          <p:nvPr/>
        </p:nvSpPr>
        <p:spPr>
          <a:xfrm>
            <a:off x="4233672" y="1965960"/>
            <a:ext cx="3502152" cy="4160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12" name="Text12"/>
          <p:cNvSpPr txBox="1"/>
          <p:nvPr/>
        </p:nvSpPr>
        <p:spPr>
          <a:xfrm>
            <a:off x="4489704" y="2148840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100" dirty="0">
                <a:solidFill>
                  <a:srgbClr val="C97F1E"/>
                </a:solidFill>
                <a:latin typeface="Calibri"/>
              </a:rPr>
              <a:t>Task 2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4489704" y="2487168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i="0" dirty="0">
                <a:solidFill>
                  <a:srgbClr val="20232A"/>
                </a:solidFill>
                <a:latin typeface="Cambria"/>
              </a:rPr>
              <a:t>match_ratio_vs_baseline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489704" y="3108960"/>
            <a:ext cx="3136392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Match coverage relative to the clean-baseline's fixed keypoint budget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489704" y="4709160"/>
            <a:ext cx="313639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400" b="1" i="0" dirty="0">
                <a:solidFill>
                  <a:srgbClr val="1B1D23"/>
                </a:solidFill>
                <a:latin typeface="Cambria"/>
              </a:rPr>
              <a:t>0.083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489704" y="53949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0" i="1" dirty="0">
                <a:solidFill>
                  <a:srgbClr val="6B7280"/>
                </a:solidFill>
                <a:latin typeface="Calibri"/>
              </a:rPr>
              <a:t>mean, 178 pairs</a:t>
            </a:r>
          </a:p>
        </p:txBody>
      </p:sp>
      <p:sp>
        <p:nvSpPr>
          <p:cNvPr id="17" name="Shape17"/>
          <p:cNvSpPr/>
          <p:nvPr/>
        </p:nvSpPr>
        <p:spPr>
          <a:xfrm>
            <a:off x="7918704" y="1965960"/>
            <a:ext cx="3502152" cy="4160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18" name="Text18"/>
          <p:cNvSpPr txBox="1"/>
          <p:nvPr/>
        </p:nvSpPr>
        <p:spPr>
          <a:xfrm>
            <a:off x="8174736" y="2148840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100" dirty="0">
                <a:solidFill>
                  <a:srgbClr val="C97F1E"/>
                </a:solidFill>
                <a:latin typeface="Calibri"/>
              </a:rPr>
              <a:t>Task 3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8174736" y="2487168"/>
            <a:ext cx="3136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700" b="1" i="0" dirty="0">
                <a:solidFill>
                  <a:srgbClr val="20232A"/>
                </a:solidFill>
                <a:latin typeface="Cambria"/>
              </a:rPr>
              <a:t>matched_recall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174736" y="3108960"/>
            <a:ext cx="3136392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Fraction of real GT boxes found (class-aware IoU ≥ 0.5)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8174736" y="4709160"/>
            <a:ext cx="313639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400" b="1" i="0" dirty="0">
                <a:solidFill>
                  <a:srgbClr val="1B1D23"/>
                </a:solidFill>
                <a:latin typeface="Cambria"/>
              </a:rPr>
              <a:t>0.366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174736" y="53949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0" i="1" dirty="0">
                <a:solidFill>
                  <a:srgbClr val="6B7280"/>
                </a:solidFill>
                <a:latin typeface="Calibri"/>
              </a:rPr>
              <a:t>mean, 300 images, vs. real GT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SIMULATED REAL-WORLD CONDITIONS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FFFFFF"/>
                </a:solidFill>
                <a:latin typeface="Cambria"/>
              </a:rPr>
              <a:t>Three Distortions × Nine Severity Levels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0" i="0" dirty="0">
                <a:solidFill>
                  <a:srgbClr val="E9ECEF"/>
                </a:solidFill>
                <a:latin typeface="Calibri"/>
              </a:rPr>
              <a:t>Each swept mild → extreme, scored against achieved SNR (dB).</a:t>
            </a:r>
          </a:p>
        </p:txBody>
      </p:sp>
      <p:sp>
        <p:nvSpPr>
          <p:cNvPr id="5" name="Shape5"/>
          <p:cNvSpPr/>
          <p:nvPr/>
        </p:nvSpPr>
        <p:spPr>
          <a:xfrm>
            <a:off x="566928" y="1892808"/>
            <a:ext cx="3392424" cy="2175129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6" name="Picture6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40080" y="1965960"/>
            <a:ext cx="3246120" cy="2028825"/>
          </a:xfrm>
          <a:prstGeom prst="rect">
            <a:avLst/>
          </a:prstGeom>
        </p:spPr>
      </p:pic>
      <p:sp>
        <p:nvSpPr>
          <p:cNvPr id="7" name="Text7"/>
          <p:cNvSpPr txBox="1"/>
          <p:nvPr/>
        </p:nvSpPr>
        <p:spPr>
          <a:xfrm>
            <a:off x="640080" y="4177665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i="0" dirty="0">
                <a:solidFill>
                  <a:srgbClr val="F2A93B"/>
                </a:solidFill>
                <a:latin typeface="Cambria"/>
              </a:rPr>
              <a:t>Low Light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40080" y="4561713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Dusk / night / tunnel driving — brightness + gamma darkening.</a:t>
            </a:r>
          </a:p>
        </p:txBody>
      </p:sp>
      <p:sp>
        <p:nvSpPr>
          <p:cNvPr id="9" name="Shape9"/>
          <p:cNvSpPr/>
          <p:nvPr/>
        </p:nvSpPr>
        <p:spPr>
          <a:xfrm>
            <a:off x="4133088" y="1892808"/>
            <a:ext cx="3392424" cy="2175129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0" name="Picture10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206240" y="1965960"/>
            <a:ext cx="3246120" cy="2028825"/>
          </a:xfrm>
          <a:prstGeom prst="rect">
            <a:avLst/>
          </a:prstGeom>
        </p:spPr>
      </p:pic>
      <p:sp>
        <p:nvSpPr>
          <p:cNvPr id="11" name="Text11"/>
          <p:cNvSpPr txBox="1"/>
          <p:nvPr/>
        </p:nvSpPr>
        <p:spPr>
          <a:xfrm>
            <a:off x="4206240" y="4177665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i="0" dirty="0">
                <a:solidFill>
                  <a:srgbClr val="F2A93B"/>
                </a:solidFill>
                <a:latin typeface="Cambria"/>
              </a:rPr>
              <a:t>Motion Blur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206240" y="4561713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Camera/vehicle motion during exposure — linear blur kernel.</a:t>
            </a:r>
          </a:p>
        </p:txBody>
      </p:sp>
      <p:sp>
        <p:nvSpPr>
          <p:cNvPr id="13" name="Shape13"/>
          <p:cNvSpPr/>
          <p:nvPr/>
        </p:nvSpPr>
        <p:spPr>
          <a:xfrm>
            <a:off x="7699248" y="1892808"/>
            <a:ext cx="3392424" cy="2175129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4" name="Picture14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7772400" y="1965960"/>
            <a:ext cx="3246120" cy="2028825"/>
          </a:xfrm>
          <a:prstGeom prst="rect">
            <a:avLst/>
          </a:prstGeom>
        </p:spPr>
      </p:pic>
      <p:sp>
        <p:nvSpPr>
          <p:cNvPr id="15" name="Text15"/>
          <p:cNvSpPr txBox="1"/>
          <p:nvPr/>
        </p:nvSpPr>
        <p:spPr>
          <a:xfrm>
            <a:off x="7772400" y="4177665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i="0" dirty="0">
                <a:solidFill>
                  <a:srgbClr val="F2A93B"/>
                </a:solidFill>
                <a:latin typeface="Cambria"/>
              </a:rPr>
              <a:t>Rain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7772400" y="4561713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Rain-streak occlusion — adds clutter, keeps scene structure.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9AA0AC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9AA0A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UNDER DISTORTION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Robustness Falls — At Different Rates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Metric vs. SNR for each task, all three distortions overlaid.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502920" y="14173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Task 1 — survival_rate</a:t>
            </a:r>
          </a:p>
        </p:txBody>
      </p:sp>
      <p:sp>
        <p:nvSpPr>
          <p:cNvPr id="6" name="Shape6"/>
          <p:cNvSpPr/>
          <p:nvPr/>
        </p:nvSpPr>
        <p:spPr>
          <a:xfrm>
            <a:off x="429768" y="1709928"/>
            <a:ext cx="3758184" cy="24037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7" name="Picture7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02920" y="1783080"/>
            <a:ext cx="3611880" cy="2257425"/>
          </a:xfrm>
          <a:prstGeom prst="rect">
            <a:avLst/>
          </a:prstGeom>
        </p:spPr>
      </p:pic>
      <p:sp>
        <p:nvSpPr>
          <p:cNvPr id="8" name="Text8"/>
          <p:cNvSpPr txBox="1"/>
          <p:nvPr/>
        </p:nvSpPr>
        <p:spPr>
          <a:xfrm>
            <a:off x="4434840" y="14173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Task 2 — match_ratio_vs_baseline</a:t>
            </a:r>
          </a:p>
        </p:txBody>
      </p:sp>
      <p:sp>
        <p:nvSpPr>
          <p:cNvPr id="9" name="Shape9"/>
          <p:cNvSpPr/>
          <p:nvPr/>
        </p:nvSpPr>
        <p:spPr>
          <a:xfrm>
            <a:off x="4361688" y="1709928"/>
            <a:ext cx="3758184" cy="24037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0" name="Picture10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434840" y="1783080"/>
            <a:ext cx="3611880" cy="2257425"/>
          </a:xfrm>
          <a:prstGeom prst="rect">
            <a:avLst/>
          </a:prstGeom>
        </p:spPr>
      </p:pic>
      <p:sp>
        <p:nvSpPr>
          <p:cNvPr id="11" name="Text11"/>
          <p:cNvSpPr txBox="1"/>
          <p:nvPr/>
        </p:nvSpPr>
        <p:spPr>
          <a:xfrm>
            <a:off x="8366760" y="14173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dirty="0">
                <a:solidFill>
                  <a:srgbClr val="20232A"/>
                </a:solidFill>
                <a:latin typeface="Calibri"/>
              </a:rPr>
              <a:t>Task 3 — matched_recall</a:t>
            </a:r>
          </a:p>
        </p:txBody>
      </p:sp>
      <p:sp>
        <p:nvSpPr>
          <p:cNvPr id="12" name="Shape12"/>
          <p:cNvSpPr/>
          <p:nvPr/>
        </p:nvSpPr>
        <p:spPr>
          <a:xfrm>
            <a:off x="8293608" y="1709928"/>
            <a:ext cx="3758184" cy="24037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3" name="Picture13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8366760" y="1783080"/>
            <a:ext cx="3611880" cy="2257425"/>
          </a:xfrm>
          <a:prstGeom prst="rect">
            <a:avLst/>
          </a:prstGeom>
        </p:spPr>
      </p:pic>
      <p:sp>
        <p:nvSpPr>
          <p:cNvPr id="14" name="Text14"/>
          <p:cNvSpPr txBox="1"/>
          <p:nvPr/>
        </p:nvSpPr>
        <p:spPr>
          <a:xfrm>
            <a:off x="502920" y="4360545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150" b="1" i="0" dirty="0">
                <a:solidFill>
                  <a:srgbClr val="20232A"/>
                </a:solidFill>
                <a:latin typeface="Calibri"/>
              </a:rPr>
              <a:t>Task 1: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low_light/motion_blur collapse at extreme severity; rain degrades gently.   </a:t>
            </a:r>
            <a:r>
              <a:rPr lang="en-US" sz="1150" b="1" i="0" dirty="0">
                <a:solidFill>
                  <a:srgbClr val="20232A"/>
                </a:solidFill>
                <a:latin typeface="Calibri"/>
              </a:rPr>
              <a:t>Task 2: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monotonic decline, sharpest for blur/darkness.   </a:t>
            </a:r>
            <a:r>
              <a:rPr lang="en-US" sz="1150" b="1" i="0" dirty="0">
                <a:solidFill>
                  <a:srgbClr val="20232A"/>
                </a:solidFill>
                <a:latin typeface="Calibri"/>
              </a:rPr>
              <a:t>Task 3: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recall drops monotonically; low_light hurts most.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RECOVERY STRATEGY 1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Image Enhancement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Fixed pre-processing restoration, applied before re-running each method.</a:t>
            </a:r>
          </a:p>
        </p:txBody>
      </p:sp>
      <p:sp>
        <p:nvSpPr>
          <p:cNvPr id="5" name="Shape5"/>
          <p:cNvSpPr/>
          <p:nvPr/>
        </p:nvSpPr>
        <p:spPr>
          <a:xfrm>
            <a:off x="548640" y="1508760"/>
            <a:ext cx="352044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749808" y="150876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150" b="1" i="0" dirty="0">
                <a:solidFill>
                  <a:srgbClr val="C97F1E"/>
                </a:solidFill>
                <a:latin typeface="Calibri"/>
              </a:rPr>
              <a:t>Low Light 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Gamma lift + CLAHE (LAB L-channel)</a:t>
            </a:r>
          </a:p>
        </p:txBody>
      </p:sp>
      <p:sp>
        <p:nvSpPr>
          <p:cNvPr id="7" name="Shape7"/>
          <p:cNvSpPr/>
          <p:nvPr/>
        </p:nvSpPr>
        <p:spPr>
          <a:xfrm>
            <a:off x="4206240" y="1508760"/>
            <a:ext cx="352044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4407408" y="150876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150" b="1" i="0" dirty="0">
                <a:solidFill>
                  <a:srgbClr val="C97F1E"/>
                </a:solidFill>
                <a:latin typeface="Calibri"/>
              </a:rPr>
              <a:t>Motion Blur 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Unsharp masking</a:t>
            </a:r>
          </a:p>
        </p:txBody>
      </p:sp>
      <p:sp>
        <p:nvSpPr>
          <p:cNvPr id="9" name="Shape9"/>
          <p:cNvSpPr/>
          <p:nvPr/>
        </p:nvSpPr>
        <p:spPr>
          <a:xfrm>
            <a:off x="7863840" y="1508760"/>
            <a:ext cx="3520440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3E5E9"/>
            </a:solidFill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8065008" y="150876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150" b="1" i="0" dirty="0">
                <a:solidFill>
                  <a:srgbClr val="C97F1E"/>
                </a:solidFill>
                <a:latin typeface="Calibri"/>
              </a:rPr>
              <a:t>Rain  </a:t>
            </a:r>
            <a:r>
              <a:rPr lang="en-US" sz="1150" b="0" i="0" dirty="0">
                <a:solidFill>
                  <a:srgbClr val="6B7280"/>
                </a:solidFill>
                <a:latin typeface="Calibri"/>
              </a:rPr>
              <a:t>Edge-preserving bilateral filter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502920" y="23317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i="0" dirty="0">
                <a:solidFill>
                  <a:srgbClr val="20232A"/>
                </a:solidFill>
                <a:latin typeface="Calibri"/>
              </a:rPr>
              <a:t>Task 1 — clean vs. distorted vs. enhanced</a:t>
            </a:r>
          </a:p>
        </p:txBody>
      </p:sp>
      <p:sp>
        <p:nvSpPr>
          <p:cNvPr id="12" name="Shape12"/>
          <p:cNvSpPr/>
          <p:nvPr/>
        </p:nvSpPr>
        <p:spPr>
          <a:xfrm>
            <a:off x="429768" y="2578608"/>
            <a:ext cx="3758184" cy="2152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3" name="Picture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02920" y="2651760"/>
            <a:ext cx="3611880" cy="2006600"/>
          </a:xfrm>
          <a:prstGeom prst="rect">
            <a:avLst/>
          </a:prstGeom>
        </p:spPr>
      </p:pic>
      <p:sp>
        <p:nvSpPr>
          <p:cNvPr id="14" name="Text14"/>
          <p:cNvSpPr txBox="1"/>
          <p:nvPr/>
        </p:nvSpPr>
        <p:spPr>
          <a:xfrm>
            <a:off x="4434840" y="23317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i="0" dirty="0">
                <a:solidFill>
                  <a:srgbClr val="20232A"/>
                </a:solidFill>
                <a:latin typeface="Calibri"/>
              </a:rPr>
              <a:t>Task 2 — clean vs. distorted vs. enhanced</a:t>
            </a:r>
          </a:p>
        </p:txBody>
      </p:sp>
      <p:sp>
        <p:nvSpPr>
          <p:cNvPr id="15" name="Shape15"/>
          <p:cNvSpPr/>
          <p:nvPr/>
        </p:nvSpPr>
        <p:spPr>
          <a:xfrm>
            <a:off x="4361688" y="2578608"/>
            <a:ext cx="3758184" cy="2152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6" name="Picture16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434840" y="2651760"/>
            <a:ext cx="3611880" cy="2006600"/>
          </a:xfrm>
          <a:prstGeom prst="rect">
            <a:avLst/>
          </a:prstGeom>
        </p:spPr>
      </p:pic>
      <p:sp>
        <p:nvSpPr>
          <p:cNvPr id="17" name="Text17"/>
          <p:cNvSpPr txBox="1"/>
          <p:nvPr/>
        </p:nvSpPr>
        <p:spPr>
          <a:xfrm>
            <a:off x="8366760" y="23317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1" i="0" dirty="0">
                <a:solidFill>
                  <a:srgbClr val="20232A"/>
                </a:solidFill>
                <a:latin typeface="Calibri"/>
              </a:rPr>
              <a:t>Task 3 — clean vs. distorted vs. enhanced</a:t>
            </a:r>
          </a:p>
        </p:txBody>
      </p:sp>
      <p:sp>
        <p:nvSpPr>
          <p:cNvPr id="18" name="Shape18"/>
          <p:cNvSpPr/>
          <p:nvPr/>
        </p:nvSpPr>
        <p:spPr>
          <a:xfrm>
            <a:off x="8293608" y="2578608"/>
            <a:ext cx="3758184" cy="2152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5E9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19" name="Picture19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8366760" y="2651760"/>
            <a:ext cx="3611880" cy="2006600"/>
          </a:xfrm>
          <a:prstGeom prst="rect">
            <a:avLst/>
          </a:prstGeom>
        </p:spPr>
      </p:pic>
      <p:sp>
        <p:nvSpPr>
          <p:cNvPr id="20" name="Text20"/>
          <p:cNvSpPr txBox="1"/>
          <p:nvPr/>
        </p:nvSpPr>
        <p:spPr>
          <a:xfrm>
            <a:off x="502920" y="4932680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100" b="0" i="0" dirty="0">
                <a:solidFill>
                  <a:srgbClr val="6B7280"/>
                </a:solidFill>
                <a:latin typeface="Calibri"/>
              </a:rPr>
              <a:t>Enhancement helps unevenly: Task 1's low_light/motion_blur improve but rain slightly worsens (de-rain filter smooths the thin edges Hough needs); Task 2 improves for motion_blur/rain; Task 3 improves for low_light/rain, flat for motion_blur.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RECOVERY STRATEGY 2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FFFFFF"/>
                </a:solidFill>
                <a:latin typeface="Cambria"/>
              </a:rPr>
              <a:t>Fine-Tuning YOLOv8n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0" i="0" dirty="0">
                <a:solidFill>
                  <a:srgbClr val="E9ECEF"/>
                </a:solidFill>
                <a:latin typeface="Calibri"/>
              </a:rPr>
              <a:t>Adapting the model's weights to the distorted domain, using real ground truth.</a:t>
            </a:r>
          </a:p>
        </p:txBody>
      </p:sp>
      <p:sp>
        <p:nvSpPr>
          <p:cNvPr id="5" name="Shape5"/>
          <p:cNvSpPr/>
          <p:nvPr/>
        </p:nvSpPr>
        <p:spPr>
          <a:xfrm>
            <a:off x="475488" y="1847088"/>
            <a:ext cx="6638544" cy="2175129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  <a:effectLst>
            <a:outerShdw blurRad="90000" dist="25000" dir="5400000" rotWithShape="0">
              <a:srgbClr val="000000">
                <a:alpha val="28000"/>
              </a:srgbClr>
            </a:outerShdw>
          </a:effectLst>
        </p:spPr>
        <p:txBody>
          <a:bodyPr/>
          <a:lstStyle/>
          <a:p/>
        </p:txBody>
      </p:sp>
      <p:pic>
        <p:nvPicPr>
          <p:cNvPr id="6" name="Picture6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48640" y="1920240"/>
            <a:ext cx="6492240" cy="2028825"/>
          </a:xfrm>
          <a:prstGeom prst="rect">
            <a:avLst/>
          </a:prstGeom>
        </p:spPr>
      </p:pic>
      <p:sp>
        <p:nvSpPr>
          <p:cNvPr id="7" name="Shape7"/>
          <p:cNvSpPr/>
          <p:nvPr/>
        </p:nvSpPr>
        <p:spPr>
          <a:xfrm>
            <a:off x="7315200" y="1920240"/>
            <a:ext cx="4343400" cy="2028825"/>
          </a:xfrm>
          <a:prstGeom prst="roundRect">
            <a:avLst/>
          </a:prstGeom>
          <a:solidFill>
            <a:srgbClr val="2B2E36"/>
          </a:solidFill>
          <a:ln w="12700">
            <a:solidFill>
              <a:srgbClr val="3A3E48"/>
            </a:solidFill>
          </a:ln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7543800" y="20574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100" b="1" i="0" dirty="0">
                <a:solidFill>
                  <a:srgbClr val="F2A93B"/>
                </a:solidFill>
                <a:latin typeface="Calibri"/>
              </a:rPr>
              <a:t>Mean recall across all 9 levels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7543800" y="24231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8869680" y="24231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9AA0AC"/>
                </a:solidFill>
                <a:latin typeface="Calibri"/>
              </a:rPr>
              <a:t>distorted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9738360" y="24231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9AA0AC"/>
                </a:solidFill>
                <a:latin typeface="Calibri"/>
              </a:rPr>
              <a:t>enhanced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0607040" y="242316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9AA0AC"/>
                </a:solidFill>
                <a:latin typeface="Calibri"/>
              </a:rPr>
              <a:t>fine-tuned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543800" y="280720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0" i="1" dirty="0">
                <a:solidFill>
                  <a:srgbClr val="E9ECEF"/>
                </a:solidFill>
                <a:latin typeface="Calibri"/>
              </a:rPr>
              <a:t>low_light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8869680" y="28072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0.262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9738360" y="28072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0.355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10607040" y="2807208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F2A93B"/>
                </a:solidFill>
                <a:latin typeface="Calibri"/>
              </a:rPr>
              <a:t>0.414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543800" y="319125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0" i="1" dirty="0">
                <a:solidFill>
                  <a:srgbClr val="E9ECEF"/>
                </a:solidFill>
                <a:latin typeface="Calibri"/>
              </a:rPr>
              <a:t>motion_blur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869680" y="319125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0.259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9738360" y="319125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0.261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10607040" y="3191256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F2A93B"/>
                </a:solidFill>
                <a:latin typeface="Calibri"/>
              </a:rPr>
              <a:t>0.451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7543800" y="357530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050" b="0" i="1" dirty="0">
                <a:solidFill>
                  <a:srgbClr val="E9ECEF"/>
                </a:solidFill>
                <a:latin typeface="Calibri"/>
              </a:rPr>
              <a:t>rain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869680" y="357530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0.260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9738360" y="357530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0" i="0" dirty="0">
                <a:solidFill>
                  <a:srgbClr val="E9ECEF"/>
                </a:solidFill>
                <a:latin typeface="Calibri"/>
              </a:rPr>
              <a:t>0.275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10607040" y="3575304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050" b="1" i="0" dirty="0">
                <a:solidFill>
                  <a:srgbClr val="F2A93B"/>
                </a:solidFill>
                <a:latin typeface="Calibri"/>
              </a:rPr>
              <a:t>0.452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548640" y="4205097"/>
            <a:ext cx="111099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E9ECEF"/>
                </a:solidFill>
                <a:latin typeface="Calibri"/>
              </a:rPr>
              <a:t>Fine-tuning wins on all 3 distortions — the gap over enhancement is largest exactly where enhancement helped least (motion_blur, rain).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9AA0AC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9AA0A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200" b="1" i="0" spc="200" dirty="0">
                <a:solidFill>
                  <a:srgbClr val="F2A93B"/>
                </a:solidFill>
                <a:latin typeface="Calibri"/>
              </a:rPr>
              <a:t>TRANSPARENCY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i="0" dirty="0">
                <a:solidFill>
                  <a:srgbClr val="20232A"/>
                </a:solidFill>
                <a:latin typeface="Cambria"/>
              </a:rPr>
              <a:t>Known Issues &amp; Limitations</a:t>
            </a:r>
          </a:p>
        </p:txBody>
      </p:sp>
      <p:sp>
        <p:nvSpPr>
          <p:cNvPr id="4" name="Ellipse4"/>
          <p:cNvSpPr/>
          <p:nvPr/>
        </p:nvSpPr>
        <p:spPr>
          <a:xfrm>
            <a:off x="548640" y="1645920"/>
            <a:ext cx="128016" cy="12801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868680" y="1600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Pseudo-GT for Tasks 1 &amp; 2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868680" y="192938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BDD100K's lane-marking and fine-grained-matching label releases weren't locally available; clean-image output serves as the reference instead of human-labeled GT.</a:t>
            </a:r>
          </a:p>
        </p:txBody>
      </p:sp>
      <p:sp>
        <p:nvSpPr>
          <p:cNvPr id="7" name="Ellipse7"/>
          <p:cNvSpPr/>
          <p:nvPr/>
        </p:nvSpPr>
        <p:spPr>
          <a:xfrm>
            <a:off x="548640" y="2816352"/>
            <a:ext cx="128016" cy="12801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868680" y="27706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Dataset pruning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868680" y="3099816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Task 3 narrowed 675→300 images to match Task 1 and guarantee 100% real-GT coverage; this subset has zero motorcycle/bicycle instances. 105 source images were found corrupt and replaced before any results were produced.</a:t>
            </a:r>
          </a:p>
        </p:txBody>
      </p:sp>
      <p:sp>
        <p:nvSpPr>
          <p:cNvPr id="10" name="Ellipse10"/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868680" y="394106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CPU-only fine-tuning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868680" y="427024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15 epochs, 240 training images, one fixed severity/distortion each — a larger, more varied set and GPU training would likely improve results further.</a:t>
            </a:r>
          </a:p>
        </p:txBody>
      </p:sp>
      <p:sp>
        <p:nvSpPr>
          <p:cNvPr id="13" name="Ellipse13"/>
          <p:cNvSpPr/>
          <p:nvPr/>
        </p:nvSpPr>
        <p:spPr>
          <a:xfrm>
            <a:off x="548640" y="5157216"/>
            <a:ext cx="128016" cy="128016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14"/>
          <p:cNvSpPr txBox="1"/>
          <p:nvPr/>
        </p:nvSpPr>
        <p:spPr>
          <a:xfrm>
            <a:off x="868680" y="511149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500" b="1" i="0" dirty="0">
                <a:solidFill>
                  <a:srgbClr val="20232A"/>
                </a:solidFill>
                <a:latin typeface="Cambria"/>
              </a:rPr>
              <a:t>SNR as a proxy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868680" y="5440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200" b="0" i="0" dirty="0">
                <a:solidFill>
                  <a:srgbClr val="6B7280"/>
                </a:solidFill>
                <a:latin typeface="Calibri"/>
              </a:rPr>
              <a:t>A uniform-noise measure that doesn't perfectly reflect perceptual severity for structured distortions like rain.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900" b="0" i="0" dirty="0">
                <a:solidFill>
                  <a:srgbClr val="6B7280"/>
                </a:solidFill>
                <a:latin typeface="Calibri"/>
              </a:rPr>
              <a:t>Robust Autonomous Driving Under Image Distortions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900" b="0" i="0" dirty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F2A93B">
              <a:alpha val="7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400" b="1" i="0" spc="200" dirty="0">
                <a:solidFill>
                  <a:srgbClr val="F2A93B"/>
                </a:solidFill>
                <a:latin typeface="Calibri"/>
              </a:rPr>
              <a:t>Key Takeaway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31520" y="260604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3200" b="1" i="0" dirty="0">
                <a:solidFill>
                  <a:srgbClr val="FFFFFF"/>
                </a:solidFill>
                <a:latin typeface="Cambria"/>
              </a:rPr>
              <a:t>Enhancement recovers some performance;</a:t>
            </a:r>
          </a:p>
          <a:p>
            <a:pPr algn="l">
              <a:lnSpc>
                <a:spcPct val="114999"/>
              </a:lnSpc>
            </a:pPr>
            <a:r>
              <a:rPr lang="en-US" sz="3200" b="1" i="0" dirty="0">
                <a:solidFill>
                  <a:srgbClr val="FFFFFF"/>
                </a:solidFill>
                <a:latin typeface="Cambria"/>
              </a:rPr>
              <a:t>fine-tuning recovers more.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731520" y="41148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400" b="0" i="0" dirty="0">
                <a:solidFill>
                  <a:srgbClr val="E9ECEF"/>
                </a:solidFill>
                <a:latin typeface="Calibri"/>
              </a:rPr>
              <a:t>Every task degrades under real-world distortion — the two recovery strategies are complementary, not interchangeable: enhancement is cheap and model-agnostic, fine-tuning adapts the model itself and wins when the domain shift is large.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731520" y="56235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i="0" dirty="0">
                <a:solidFill>
                  <a:srgbClr val="F2A93B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Theme">
  <a:themeElements>
    <a:clrScheme name="Road">
      <a:dk1>
        <a:srgbClr val="20232A"/>
      </a:dk1>
      <a:lt1>
        <a:srgbClr val="FFFFFF"/>
      </a:lt1>
      <a:dk2>
        <a:srgbClr val="1B1D23"/>
      </a:dk2>
      <a:lt2>
        <a:srgbClr val="F4F5F7"/>
      </a:lt2>
      <a:accent1>
        <a:srgbClr val="F2A93B"/>
      </a:accent1>
      <a:accent2>
        <a:srgbClr val="C97F1E"/>
      </a:accent2>
      <a:accent3>
        <a:srgbClr val="2B2E36"/>
      </a:accent3>
      <a:accent4>
        <a:srgbClr val="E9ECEF"/>
      </a:accent4>
      <a:accent5>
        <a:srgbClr val="6B7280"/>
      </a:accent5>
      <a:accent6>
        <a:srgbClr val="3A3E48"/>
      </a:accent6>
      <a:hlink>
        <a:srgbClr val="F2A93B"/>
      </a:hlink>
      <a:folHlink>
        <a:srgbClr val="C97F1E"/>
      </a:folHlink>
    </a:clrScheme>
    <a:fontScheme name="RoadFonts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Road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</Application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Robust Autonomous Driving Under Image Distortions</dc:title>
  <dc:creator>Amit &amp; Alon</dc:creator>
</cp:coreProperties>
</file>